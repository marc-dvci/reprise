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70" r:id="rId15"/>
    <p:sldId id="271"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B2A106B0-321E-4D50-BF76-8FB52F7E11B5}">
          <p14:sldIdLst>
            <p14:sldId id="256"/>
            <p14:sldId id="266"/>
            <p14:sldId id="267"/>
          </p14:sldIdLst>
        </p14:section>
        <p14:section name="Terres submesibles / Prospective" id="{0B65C398-1295-4EB9-BAED-91D2B6326D4C}">
          <p14:sldIdLst>
            <p14:sldId id="268"/>
            <p14:sldId id="269"/>
          </p14:sldIdLst>
        </p14:section>
        <p14:section name="Terres submesibles / Lab" id="{9C12F891-A4D0-420C-8274-8AD1F3C1BAAE}">
          <p14:sldIdLst>
            <p14:sldId id="260"/>
            <p14:sldId id="261"/>
          </p14:sldIdLst>
        </p14:section>
        <p14:section name="Mer / Prospective" id="{32F24439-9F4B-4260-9CDB-07845A36C2D7}">
          <p14:sldIdLst>
            <p14:sldId id="259"/>
            <p14:sldId id="264"/>
          </p14:sldIdLst>
        </p14:section>
        <p14:section name="Mer / Lab" id="{21455774-36CC-44B4-8497-45411A02E809}">
          <p14:sldIdLst>
            <p14:sldId id="272"/>
            <p14:sldId id="273"/>
          </p14:sldIdLst>
        </p14:section>
        <p14:section name="Espace / Prospective" id="{5A016411-2A31-47C6-B33F-682303382C9E}">
          <p14:sldIdLst>
            <p14:sldId id="258"/>
            <p14:sldId id="263"/>
          </p14:sldIdLst>
        </p14:section>
        <p14:section name="Espace / Lab" id="{B0F8BC3C-F858-435D-AFE6-FE030F1F98FB}">
          <p14:sldIdLst>
            <p14:sldId id="270"/>
            <p14:sldId id="27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107" d="100"/>
          <a:sy n="107" d="100"/>
        </p:scale>
        <p:origin x="672" y="10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8124B6FA-A066-5CAC-BB6E-8D9D53D60A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9C3D9E41-E4CF-3A8F-B8E8-2A3ED09139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536B758-2097-446E-8066-7AF5CAB260EA}" type="datetimeFigureOut">
              <a:rPr lang="fr-FR" smtClean="0"/>
              <a:t>17/02/2026</a:t>
            </a:fld>
            <a:endParaRPr lang="fr-FR"/>
          </a:p>
        </p:txBody>
      </p:sp>
      <p:sp>
        <p:nvSpPr>
          <p:cNvPr id="4" name="Espace réservé du pied de page 3">
            <a:extLst>
              <a:ext uri="{FF2B5EF4-FFF2-40B4-BE49-F238E27FC236}">
                <a16:creationId xmlns:a16="http://schemas.microsoft.com/office/drawing/2014/main" id="{363FA114-675B-9BD3-6405-299FC9633AC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61971AA5-4DAE-11F5-BF2A-1E98967F42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9E8DB5-A4AF-4EAA-8867-832508A2D023}" type="slidenum">
              <a:rPr lang="fr-FR" smtClean="0"/>
              <a:t>‹N°›</a:t>
            </a:fld>
            <a:endParaRPr lang="fr-FR"/>
          </a:p>
        </p:txBody>
      </p:sp>
    </p:spTree>
    <p:extLst>
      <p:ext uri="{BB962C8B-B14F-4D97-AF65-F5344CB8AC3E}">
        <p14:creationId xmlns:p14="http://schemas.microsoft.com/office/powerpoint/2010/main" val="27434417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76829B-C1C6-4325-BACC-952A86FD75F5}" type="datetimeFigureOut">
              <a:rPr lang="fr-FR" smtClean="0"/>
              <a:t>17/02/2026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79DBAB-DB88-4256-B1FE-6C8EC3B9D222}" type="slidenum">
              <a:rPr lang="fr-FR" smtClean="0"/>
              <a:t>‹N°›</a:t>
            </a:fld>
            <a:endParaRPr lang="fr-FR"/>
          </a:p>
        </p:txBody>
      </p:sp>
    </p:spTree>
    <p:extLst>
      <p:ext uri="{BB962C8B-B14F-4D97-AF65-F5344CB8AC3E}">
        <p14:creationId xmlns:p14="http://schemas.microsoft.com/office/powerpoint/2010/main" val="3983029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46744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941508"/>
      </p:ext>
    </p:extLst>
  </p:cSld>
  <p:clrMap bg1="lt1" tx1="dk1" bg2="lt2" tx2="dk2" accent1="accent1" accent2="accent2" accent3="accent3" accent4="accent4" accent5="accent5" accent6="accent6" hlink="hlink" folHlink="folHlink"/>
  <p:sldLayoutIdLst>
    <p:sldLayoutId id="214748365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1.jpg"/><Relationship Id="rId5"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jpg"/><Relationship Id="rId5" Type="http://schemas.openxmlformats.org/officeDocument/2006/relationships/image" Target="../media/image6.jpg"/></Relationships>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F4DE2-9DD6-6D13-CE21-C2A49FAF6C39}"/>
            </a:ext>
          </a:extLst>
        </p:cNvPr>
        <p:cNvGrpSpPr/>
        <p:nvPr/>
      </p:nvGrpSpPr>
      <p:grpSpPr>
        <a:xfrm>
          <a:off x="0" y="0"/>
          <a:ext cx="0" cy="0"/>
          <a:chOff x="0" y="0"/>
          <a:chExt cx="0" cy="0"/>
        </a:xfrm>
      </p:grpSpPr>
      <p:grpSp>
        <p:nvGrpSpPr>
          <p:cNvPr id="5" name="Groupe 4">
            <a:extLst>
              <a:ext uri="{FF2B5EF4-FFF2-40B4-BE49-F238E27FC236}">
                <a16:creationId xmlns:a16="http://schemas.microsoft.com/office/drawing/2014/main" id="{976E9EA1-F6AC-383F-6794-D446CF69F278}"/>
              </a:ext>
            </a:extLst>
          </p:cNvPr>
          <p:cNvGrpSpPr/>
          <p:nvPr/>
        </p:nvGrpSpPr>
        <p:grpSpPr>
          <a:xfrm>
            <a:off x="-9525" y="52995"/>
            <a:ext cx="12201525" cy="616512"/>
            <a:chOff x="-9525" y="52995"/>
            <a:chExt cx="12201525" cy="616512"/>
          </a:xfrm>
        </p:grpSpPr>
        <p:sp>
          <p:nvSpPr>
            <p:cNvPr id="2" name="Rectangle 1">
              <a:extLst>
                <a:ext uri="{FF2B5EF4-FFF2-40B4-BE49-F238E27FC236}">
                  <a16:creationId xmlns:a16="http://schemas.microsoft.com/office/drawing/2014/main" id="{92151965-D0E9-F4F0-8A63-03AFF61F35F5}"/>
                </a:ext>
              </a:extLst>
            </p:cNvPr>
            <p:cNvSpPr>
              <a:spLocks noChangeArrowheads="1"/>
            </p:cNvSpPr>
            <p:nvPr/>
          </p:nvSpPr>
          <p:spPr bwMode="auto">
            <a:xfrm>
              <a:off x="-9525" y="82550"/>
              <a:ext cx="12201525" cy="5869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5pPr>
              <a:lvl6pPr marL="2514600" indent="-228600" defTabSz="457200" fontAlgn="base" hangingPunct="0">
                <a:lnSpc>
                  <a:spcPct val="98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6pPr>
              <a:lvl7pPr marL="2971800" indent="-228600" defTabSz="457200" fontAlgn="base" hangingPunct="0">
                <a:lnSpc>
                  <a:spcPct val="98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7pPr>
              <a:lvl8pPr marL="3429000" indent="-228600" defTabSz="457200" fontAlgn="base" hangingPunct="0">
                <a:lnSpc>
                  <a:spcPct val="98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8pPr>
              <a:lvl9pPr marL="3886200" indent="-228600" defTabSz="457200" fontAlgn="base" hangingPunct="0">
                <a:lnSpc>
                  <a:spcPct val="98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9pPr>
            </a:lstStyle>
            <a:p>
              <a:pPr marL="158750" algn="ctr">
                <a:buClr>
                  <a:srgbClr val="000000"/>
                </a:buClr>
                <a:buSzPct val="100000"/>
                <a:defRPr/>
              </a:pPr>
              <a:r>
                <a:rPr lang="fr-FR" sz="1600" b="1" dirty="0">
                  <a:solidFill>
                    <a:schemeClr val="bg2">
                      <a:lumMod val="25000"/>
                    </a:schemeClr>
                  </a:solidFill>
                  <a:latin typeface="Century Gothic" panose="020B0502020202020204" pitchFamily="34" charset="0"/>
                </a:rPr>
                <a:t>CONCOURS D’ARCHITECTURE ET D’INNOVATION 2026</a:t>
              </a:r>
            </a:p>
            <a:p>
              <a:pPr marL="158750" algn="ctr">
                <a:buClr>
                  <a:srgbClr val="000000"/>
                </a:buClr>
                <a:buSzPct val="100000"/>
                <a:defRPr/>
              </a:pPr>
              <a:r>
                <a:rPr lang="fr-FR" sz="1600" b="1" kern="1200" dirty="0">
                  <a:solidFill>
                    <a:schemeClr val="bg2">
                      <a:lumMod val="25000"/>
                    </a:schemeClr>
                  </a:solidFill>
                  <a:latin typeface="Century Gothic" panose="020B0502020202020204" pitchFamily="34" charset="0"/>
                </a:rPr>
                <a:t>ESPACE / </a:t>
              </a:r>
              <a:r>
                <a:rPr lang="fr-FR" sz="1600" b="1" dirty="0">
                  <a:solidFill>
                    <a:schemeClr val="bg2">
                      <a:lumMod val="25000"/>
                    </a:schemeClr>
                  </a:solidFill>
                  <a:latin typeface="Century Gothic" panose="020B0502020202020204" pitchFamily="34" charset="0"/>
                </a:rPr>
                <a:t>LAB</a:t>
              </a:r>
            </a:p>
          </p:txBody>
        </p:sp>
        <p:pic>
          <p:nvPicPr>
            <p:cNvPr id="3" name="Image 2" descr="Une image contenant texte, Police, Graphique, blanc&#10;&#10;Description générée automatiquement">
              <a:extLst>
                <a:ext uri="{FF2B5EF4-FFF2-40B4-BE49-F238E27FC236}">
                  <a16:creationId xmlns:a16="http://schemas.microsoft.com/office/drawing/2014/main" id="{6A0BFEAF-59BB-65F9-CFB7-2A84DF4A65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096" y="52995"/>
              <a:ext cx="1541124" cy="560409"/>
            </a:xfrm>
            <a:prstGeom prst="rect">
              <a:avLst/>
            </a:prstGeom>
          </p:spPr>
        </p:pic>
        <p:cxnSp>
          <p:nvCxnSpPr>
            <p:cNvPr id="4" name="Connecteur droit 3">
              <a:extLst>
                <a:ext uri="{FF2B5EF4-FFF2-40B4-BE49-F238E27FC236}">
                  <a16:creationId xmlns:a16="http://schemas.microsoft.com/office/drawing/2014/main" id="{DAA2BA57-A31B-8C3A-8ECD-ADEB7DB770EC}"/>
                </a:ext>
              </a:extLst>
            </p:cNvPr>
            <p:cNvCxnSpPr>
              <a:cxnSpLocks/>
            </p:cNvCxnSpPr>
            <p:nvPr/>
          </p:nvCxnSpPr>
          <p:spPr>
            <a:xfrm>
              <a:off x="0" y="659233"/>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9" name="Image 8" descr="Une image contenant texte, Police, Graphique, blanc&#10;&#10;Description générée automatiquement">
            <a:extLst>
              <a:ext uri="{FF2B5EF4-FFF2-40B4-BE49-F238E27FC236}">
                <a16:creationId xmlns:a16="http://schemas.microsoft.com/office/drawing/2014/main" id="{0EA84155-F2E0-B631-90BA-38FC5B645D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096" y="52995"/>
            <a:ext cx="1541124" cy="560409"/>
          </a:xfrm>
          <a:prstGeom prst="rect">
            <a:avLst/>
          </a:prstGeom>
        </p:spPr>
      </p:pic>
      <p:sp>
        <p:nvSpPr>
          <p:cNvPr id="10" name="Rectangle 9"/>
          <p:cNvSpPr/>
          <p:nvPr/>
        </p:nvSpPr>
        <p:spPr>
          <a:xfrm>
            <a:off x="0" y="667512"/>
            <a:ext cx="12191695" cy="6190488"/>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768096"/>
            <a:ext cx="7955279" cy="347472"/>
          </a:xfrm>
          <a:prstGeom prst="rect">
            <a:avLst/>
          </a:prstGeom>
          <a:noFill/>
        </p:spPr>
        <p:txBody>
          <a:bodyPr wrap="square" lIns="0" rIns="0" tIns="0" bIns="0">
            <a:spAutoFit/>
          </a:bodyPr>
          <a:lstStyle/>
          <a:p>
            <a:pPr>
              <a:spcAft>
                <a:spcPts val="500"/>
              </a:spcAft>
              <a:defRPr sz="1800" b="1">
                <a:solidFill>
                  <a:srgbClr val="182329"/>
                </a:solidFill>
                <a:latin typeface="Segoe UI"/>
              </a:defRPr>
            </a:pPr>
            <a:r>
              <a:t>REPRISE / Connecting Ridge</a:t>
            </a:r>
          </a:p>
        </p:txBody>
      </p:sp>
      <p:sp>
        <p:nvSpPr>
          <p:cNvPr id="12" name="TextBox 11"/>
          <p:cNvSpPr txBox="1"/>
          <p:nvPr/>
        </p:nvSpPr>
        <p:spPr>
          <a:xfrm>
            <a:off x="228600" y="1188720"/>
            <a:ext cx="7955279" cy="338328"/>
          </a:xfrm>
          <a:prstGeom prst="rect">
            <a:avLst/>
          </a:prstGeom>
          <a:noFill/>
        </p:spPr>
        <p:txBody>
          <a:bodyPr wrap="square" lIns="0" rIns="0" tIns="0" bIns="0">
            <a:spAutoFit/>
          </a:bodyPr>
          <a:lstStyle/>
          <a:p>
            <a:pPr>
              <a:spcAft>
                <a:spcPts val="500"/>
              </a:spcAft>
              <a:defRPr sz="1000" b="0">
                <a:solidFill>
                  <a:srgbClr val="182329"/>
                </a:solidFill>
                <a:latin typeface="Segoe UI"/>
              </a:defRPr>
            </a:pPr>
            <a:r>
              <a:t>Un atelier lunaire où humains et robots fabriquent, réparent et réemploient des réflecteurs solaires.</a:t>
            </a:r>
          </a:p>
        </p:txBody>
      </p:sp>
      <p:sp>
        <p:nvSpPr>
          <p:cNvPr id="13" name="TextBox 12"/>
          <p:cNvSpPr txBox="1"/>
          <p:nvPr/>
        </p:nvSpPr>
        <p:spPr>
          <a:xfrm>
            <a:off x="8549640" y="822960"/>
            <a:ext cx="3383280" cy="274320"/>
          </a:xfrm>
          <a:prstGeom prst="rect">
            <a:avLst/>
          </a:prstGeom>
          <a:noFill/>
        </p:spPr>
        <p:txBody>
          <a:bodyPr wrap="square" lIns="0" rIns="0" tIns="0" bIns="0">
            <a:spAutoFit/>
          </a:bodyPr>
          <a:lstStyle/>
          <a:p>
            <a:pPr>
              <a:spcAft>
                <a:spcPts val="500"/>
              </a:spcAft>
              <a:defRPr sz="1400" b="1">
                <a:solidFill>
                  <a:srgbClr val="995D26"/>
                </a:solidFill>
                <a:latin typeface="Segoe UI"/>
              </a:defRPr>
            </a:pPr>
            <a:r>
              <a:t>MARC DONOVICI</a:t>
            </a:r>
          </a:p>
        </p:txBody>
      </p:sp>
      <p:sp>
        <p:nvSpPr>
          <p:cNvPr id="14" name="TextBox 13"/>
          <p:cNvSpPr txBox="1"/>
          <p:nvPr/>
        </p:nvSpPr>
        <p:spPr>
          <a:xfrm>
            <a:off x="8549640" y="1207008"/>
            <a:ext cx="3383280" cy="228600"/>
          </a:xfrm>
          <a:prstGeom prst="rect">
            <a:avLst/>
          </a:prstGeom>
          <a:noFill/>
        </p:spPr>
        <p:txBody>
          <a:bodyPr wrap="square" lIns="0" rIns="0" tIns="0" bIns="0">
            <a:spAutoFit/>
          </a:bodyPr>
          <a:lstStyle/>
          <a:p>
            <a:pPr>
              <a:spcAft>
                <a:spcPts val="500"/>
              </a:spcAft>
              <a:defRPr sz="1000" b="0">
                <a:solidFill>
                  <a:srgbClr val="182329"/>
                </a:solidFill>
                <a:latin typeface="Segoe UI"/>
              </a:defRPr>
            </a:pPr>
            <a:r>
              <a:t>French nationality · individual entry</a:t>
            </a:r>
          </a:p>
        </p:txBody>
      </p:sp>
      <p:pic>
        <p:nvPicPr>
          <p:cNvPr id="15" name="Picture 14" descr="image.jpg"/>
          <p:cNvPicPr>
            <a:picLocks noChangeAspect="1"/>
          </p:cNvPicPr>
          <p:nvPr/>
        </p:nvPicPr>
        <p:blipFill>
          <a:blip r:embed="rId4"/>
          <a:stretch>
            <a:fillRect/>
          </a:stretch>
        </p:blipFill>
        <p:spPr>
          <a:xfrm>
            <a:off x="0" y="1664208"/>
            <a:ext cx="12191695" cy="5193792"/>
          </a:xfrm>
          <a:prstGeom prst="rect">
            <a:avLst/>
          </a:prstGeom>
        </p:spPr>
      </p:pic>
      <p:sp>
        <p:nvSpPr>
          <p:cNvPr id="16" name="Rectangle 15"/>
          <p:cNvSpPr/>
          <p:nvPr/>
        </p:nvSpPr>
        <p:spPr>
          <a:xfrm>
            <a:off x="274320" y="1865376"/>
            <a:ext cx="10515600" cy="960120"/>
          </a:xfrm>
          <a:prstGeom prst="rect">
            <a:avLst/>
          </a:prstGeom>
          <a:solidFill>
            <a:srgbClr val="101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 y="1956816"/>
            <a:ext cx="10149840" cy="402336"/>
          </a:xfrm>
          <a:prstGeom prst="rect">
            <a:avLst/>
          </a:prstGeom>
          <a:noFill/>
        </p:spPr>
        <p:txBody>
          <a:bodyPr wrap="square" lIns="0" rIns="0" tIns="0" bIns="0">
            <a:spAutoFit/>
          </a:bodyPr>
          <a:lstStyle/>
          <a:p>
            <a:pPr>
              <a:spcAft>
                <a:spcPts val="500"/>
              </a:spcAft>
              <a:defRPr sz="2600" b="1">
                <a:solidFill>
                  <a:srgbClr val="FFFFFF"/>
                </a:solidFill>
                <a:latin typeface="Segoe UI"/>
              </a:defRPr>
            </a:pPr>
            <a:r>
              <a:t>REPLACE WORN FILM. REUSE THE FRAME.</a:t>
            </a:r>
          </a:p>
        </p:txBody>
      </p:sp>
      <p:sp>
        <p:nvSpPr>
          <p:cNvPr id="18" name="TextBox 17"/>
          <p:cNvSpPr txBox="1"/>
          <p:nvPr/>
        </p:nvSpPr>
        <p:spPr>
          <a:xfrm>
            <a:off x="448056" y="2459736"/>
            <a:ext cx="10149840" cy="246888"/>
          </a:xfrm>
          <a:prstGeom prst="rect">
            <a:avLst/>
          </a:prstGeom>
          <a:noFill/>
        </p:spPr>
        <p:txBody>
          <a:bodyPr wrap="square" lIns="0" rIns="0" tIns="0" bIns="0">
            <a:spAutoFit/>
          </a:bodyPr>
          <a:lstStyle/>
          <a:p>
            <a:pPr>
              <a:spcAft>
                <a:spcPts val="500"/>
              </a:spcAft>
              <a:defRPr sz="1600" b="0">
                <a:solidFill>
                  <a:srgbClr val="FFFFFF"/>
                </a:solidFill>
                <a:latin typeface="Segoe UI"/>
              </a:defRPr>
            </a:pPr>
            <a:r>
              <a:t>People and robots make, repair and reuse solar reflectors on the Moon.</a:t>
            </a:r>
          </a:p>
        </p:txBody>
      </p:sp>
      <p:sp>
        <p:nvSpPr>
          <p:cNvPr id="19" name="Rectangle 18"/>
          <p:cNvSpPr/>
          <p:nvPr/>
        </p:nvSpPr>
        <p:spPr>
          <a:xfrm>
            <a:off x="274320" y="5166360"/>
            <a:ext cx="3840480" cy="1444752"/>
          </a:xfrm>
          <a:prstGeom prst="rect">
            <a:avLst/>
          </a:prstGeom>
          <a:solidFill>
            <a:srgbClr val="101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jpg"/>
          <p:cNvPicPr>
            <a:picLocks noChangeAspect="1"/>
          </p:cNvPicPr>
          <p:nvPr/>
        </p:nvPicPr>
        <p:blipFill>
          <a:blip r:embed="rId5"/>
          <a:stretch>
            <a:fillRect/>
          </a:stretch>
        </p:blipFill>
        <p:spPr>
          <a:xfrm>
            <a:off x="338328" y="5212080"/>
            <a:ext cx="2148840" cy="1307592"/>
          </a:xfrm>
          <a:prstGeom prst="rect">
            <a:avLst/>
          </a:prstGeom>
        </p:spPr>
      </p:pic>
      <p:sp>
        <p:nvSpPr>
          <p:cNvPr id="21" name="Rectangle 20"/>
          <p:cNvSpPr/>
          <p:nvPr/>
        </p:nvSpPr>
        <p:spPr>
          <a:xfrm>
            <a:off x="356616" y="5230368"/>
            <a:ext cx="512064" cy="182880"/>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5239512"/>
            <a:ext cx="457200" cy="164592"/>
          </a:xfrm>
          <a:prstGeom prst="rect">
            <a:avLst/>
          </a:prstGeom>
          <a:noFill/>
        </p:spPr>
        <p:txBody>
          <a:bodyPr wrap="square" lIns="0" rIns="0" tIns="0" bIns="0">
            <a:spAutoFit/>
          </a:bodyPr>
          <a:lstStyle/>
          <a:p>
            <a:pPr>
              <a:spcAft>
                <a:spcPts val="500"/>
              </a:spcAft>
              <a:defRPr sz="700" b="1">
                <a:solidFill>
                  <a:srgbClr val="2B5E63"/>
                </a:solidFill>
                <a:latin typeface="Segoe UI"/>
              </a:defRPr>
            </a:pPr>
            <a:r>
              <a:t>STUDY</a:t>
            </a:r>
          </a:p>
        </p:txBody>
      </p:sp>
      <p:sp>
        <p:nvSpPr>
          <p:cNvPr id="23" name="TextBox 22"/>
          <p:cNvSpPr txBox="1"/>
          <p:nvPr/>
        </p:nvSpPr>
        <p:spPr>
          <a:xfrm>
            <a:off x="2587752" y="5376672"/>
            <a:ext cx="1380744" cy="868680"/>
          </a:xfrm>
          <a:prstGeom prst="rect">
            <a:avLst/>
          </a:prstGeom>
          <a:noFill/>
        </p:spPr>
        <p:txBody>
          <a:bodyPr wrap="square" lIns="0" rIns="0" tIns="0" bIns="0">
            <a:spAutoFit/>
          </a:bodyPr>
          <a:lstStyle/>
          <a:p>
            <a:pPr>
              <a:spcAft>
                <a:spcPts val="500"/>
              </a:spcAft>
              <a:defRPr sz="1500" b="1">
                <a:solidFill>
                  <a:srgbClr val="FFFFFF"/>
                </a:solidFill>
                <a:latin typeface="Segoe UI"/>
              </a:defRPr>
            </a:pPr>
            <a:r>
              <a:t>50 m²</a:t>
            </a:r>
          </a:p>
          <a:p>
            <a:pPr>
              <a:spcAft>
                <a:spcPts val="500"/>
              </a:spcAft>
              <a:defRPr sz="1500" b="1">
                <a:solidFill>
                  <a:srgbClr val="FFFFFF"/>
                </a:solidFill>
                <a:latin typeface="Segoe UI"/>
              </a:defRPr>
            </a:pPr>
            <a:r>
              <a:t>2 strips</a:t>
            </a:r>
          </a:p>
          <a:p>
            <a:pPr>
              <a:spcAft>
                <a:spcPts val="500"/>
              </a:spcAft>
              <a:defRPr sz="1500" b="1">
                <a:solidFill>
                  <a:srgbClr val="FFFFFF"/>
                </a:solidFill>
                <a:latin typeface="Segoe UI"/>
              </a:defRPr>
            </a:pPr>
            <a:r>
              <a:t>1 reusable frame</a:t>
            </a:r>
          </a:p>
        </p:txBody>
      </p:sp>
      <p:sp>
        <p:nvSpPr>
          <p:cNvPr id="24" name="Rectangle 23"/>
          <p:cNvSpPr/>
          <p:nvPr/>
        </p:nvSpPr>
        <p:spPr>
          <a:xfrm>
            <a:off x="4251960" y="5925312"/>
            <a:ext cx="7653527" cy="649224"/>
          </a:xfrm>
          <a:prstGeom prst="rect">
            <a:avLst/>
          </a:prstGeom>
          <a:solidFill>
            <a:srgbClr val="101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43984" y="6053328"/>
            <a:ext cx="7260336" cy="393192"/>
          </a:xfrm>
          <a:prstGeom prst="rect">
            <a:avLst/>
          </a:prstGeom>
          <a:noFill/>
        </p:spPr>
        <p:txBody>
          <a:bodyPr wrap="square" lIns="0" rIns="0" tIns="0" bIns="0">
            <a:spAutoFit/>
          </a:bodyPr>
          <a:lstStyle/>
          <a:p>
            <a:pPr>
              <a:spcAft>
                <a:spcPts val="500"/>
              </a:spcAft>
              <a:defRPr sz="1800" b="1">
                <a:solidFill>
                  <a:srgbClr val="FFFFFF"/>
                </a:solidFill>
                <a:latin typeface="Segoe UI"/>
              </a:defRPr>
            </a:pPr>
            <a:r>
              <a:t>A culture of repair, towards a permanent human presence.</a:t>
            </a:r>
          </a:p>
        </p:txBody>
      </p:sp>
    </p:spTree>
    <p:extLst>
      <p:ext uri="{BB962C8B-B14F-4D97-AF65-F5344CB8AC3E}">
        <p14:creationId xmlns:p14="http://schemas.microsoft.com/office/powerpoint/2010/main" val="145251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9DEEB-0D67-47FD-A989-C8274309A726}"/>
            </a:ext>
          </a:extLst>
        </p:cNvPr>
        <p:cNvGrpSpPr/>
        <p:nvPr/>
      </p:nvGrpSpPr>
      <p:grpSpPr>
        <a:xfrm>
          <a:off x="0" y="0"/>
          <a:ext cx="0" cy="0"/>
          <a:chOff x="0" y="0"/>
          <a:chExt cx="0" cy="0"/>
        </a:xfrm>
      </p:grpSpPr>
      <p:grpSp>
        <p:nvGrpSpPr>
          <p:cNvPr id="7" name="Groupe 6">
            <a:extLst>
              <a:ext uri="{FF2B5EF4-FFF2-40B4-BE49-F238E27FC236}">
                <a16:creationId xmlns:a16="http://schemas.microsoft.com/office/drawing/2014/main" id="{CDE355A2-14FD-5C49-E260-A65567D9E095}"/>
              </a:ext>
            </a:extLst>
          </p:cNvPr>
          <p:cNvGrpSpPr/>
          <p:nvPr/>
        </p:nvGrpSpPr>
        <p:grpSpPr>
          <a:xfrm>
            <a:off x="0" y="52995"/>
            <a:ext cx="12192000" cy="606238"/>
            <a:chOff x="0" y="52995"/>
            <a:chExt cx="12192000" cy="606238"/>
          </a:xfrm>
        </p:grpSpPr>
        <p:pic>
          <p:nvPicPr>
            <p:cNvPr id="9" name="Image 8" descr="Une image contenant texte, Police, Graphique, blanc&#10;&#10;Description générée automatiquement">
              <a:extLst>
                <a:ext uri="{FF2B5EF4-FFF2-40B4-BE49-F238E27FC236}">
                  <a16:creationId xmlns:a16="http://schemas.microsoft.com/office/drawing/2014/main" id="{7C291D22-BF03-CA7E-BDF8-65283DBF19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096" y="52995"/>
              <a:ext cx="1541124" cy="560409"/>
            </a:xfrm>
            <a:prstGeom prst="rect">
              <a:avLst/>
            </a:prstGeom>
          </p:spPr>
        </p:pic>
        <p:cxnSp>
          <p:nvCxnSpPr>
            <p:cNvPr id="10" name="Connecteur droit 9">
              <a:extLst>
                <a:ext uri="{FF2B5EF4-FFF2-40B4-BE49-F238E27FC236}">
                  <a16:creationId xmlns:a16="http://schemas.microsoft.com/office/drawing/2014/main" id="{0FD90957-27BC-7DDA-B4D4-E86D833F7A60}"/>
                </a:ext>
              </a:extLst>
            </p:cNvPr>
            <p:cNvCxnSpPr>
              <a:cxnSpLocks/>
            </p:cNvCxnSpPr>
            <p:nvPr/>
          </p:nvCxnSpPr>
          <p:spPr>
            <a:xfrm>
              <a:off x="0" y="659233"/>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Rectangle 10">
            <a:extLst>
              <a:ext uri="{FF2B5EF4-FFF2-40B4-BE49-F238E27FC236}">
                <a16:creationId xmlns:a16="http://schemas.microsoft.com/office/drawing/2014/main" id="{B52040BE-700E-5F01-D113-06A4461F6184}"/>
              </a:ext>
            </a:extLst>
          </p:cNvPr>
          <p:cNvSpPr>
            <a:spLocks noChangeArrowheads="1"/>
          </p:cNvSpPr>
          <p:nvPr/>
        </p:nvSpPr>
        <p:spPr bwMode="auto">
          <a:xfrm>
            <a:off x="-9525" y="82550"/>
            <a:ext cx="12201525" cy="5869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5pPr>
            <a:lvl6pPr marL="2514600" indent="-228600" defTabSz="457200" fontAlgn="base" hangingPunct="0">
              <a:lnSpc>
                <a:spcPct val="98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6pPr>
            <a:lvl7pPr marL="2971800" indent="-228600" defTabSz="457200" fontAlgn="base" hangingPunct="0">
              <a:lnSpc>
                <a:spcPct val="98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7pPr>
            <a:lvl8pPr marL="3429000" indent="-228600" defTabSz="457200" fontAlgn="base" hangingPunct="0">
              <a:lnSpc>
                <a:spcPct val="98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8pPr>
            <a:lvl9pPr marL="3886200" indent="-228600" defTabSz="457200" fontAlgn="base" hangingPunct="0">
              <a:lnSpc>
                <a:spcPct val="98000"/>
              </a:lnSpc>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515600" algn="l"/>
                <a:tab pos="10972800" algn="l"/>
                <a:tab pos="11430000" algn="l"/>
                <a:tab pos="11887200" algn="l"/>
              </a:tabLst>
              <a:defRPr>
                <a:solidFill>
                  <a:srgbClr val="000000"/>
                </a:solidFill>
                <a:latin typeface="DejaVu Sans" pitchFamily="16" charset="0"/>
                <a:ea typeface="DejaVu Sans" pitchFamily="16" charset="0"/>
                <a:cs typeface="DejaVu Sans" pitchFamily="16" charset="0"/>
              </a:defRPr>
            </a:lvl9pPr>
          </a:lstStyle>
          <a:p>
            <a:pPr marL="158750" algn="ctr">
              <a:buClr>
                <a:srgbClr val="000000"/>
              </a:buClr>
              <a:buSzPct val="100000"/>
              <a:defRPr/>
            </a:pPr>
            <a:r>
              <a:rPr lang="fr-FR" sz="1600" b="1" dirty="0">
                <a:solidFill>
                  <a:schemeClr val="bg2">
                    <a:lumMod val="25000"/>
                  </a:schemeClr>
                </a:solidFill>
                <a:latin typeface="Century Gothic" panose="020B0502020202020204" pitchFamily="34" charset="0"/>
              </a:rPr>
              <a:t>CONCOURS D’ARCHITECTURE ET D’INNOVATION 2026</a:t>
            </a:r>
          </a:p>
          <a:p>
            <a:pPr marL="158750" algn="ctr">
              <a:buClr>
                <a:srgbClr val="000000"/>
              </a:buClr>
              <a:buSzPct val="100000"/>
              <a:defRPr/>
            </a:pPr>
            <a:r>
              <a:rPr lang="fr-FR" sz="1600" b="1" kern="1200" dirty="0">
                <a:solidFill>
                  <a:schemeClr val="bg2">
                    <a:lumMod val="25000"/>
                  </a:schemeClr>
                </a:solidFill>
                <a:latin typeface="Century Gothic" panose="020B0502020202020204" pitchFamily="34" charset="0"/>
              </a:rPr>
              <a:t>ESPACE / </a:t>
            </a:r>
            <a:r>
              <a:rPr lang="fr-FR" sz="1600" b="1" dirty="0">
                <a:solidFill>
                  <a:schemeClr val="bg2">
                    <a:lumMod val="25000"/>
                  </a:schemeClr>
                </a:solidFill>
                <a:latin typeface="Century Gothic" panose="020B0502020202020204" pitchFamily="34" charset="0"/>
              </a:rPr>
              <a:t>LAB</a:t>
            </a:r>
          </a:p>
        </p:txBody>
      </p:sp>
      <p:sp>
        <p:nvSpPr>
          <p:cNvPr id="12" name="Rectangle 11"/>
          <p:cNvSpPr/>
          <p:nvPr/>
        </p:nvSpPr>
        <p:spPr>
          <a:xfrm>
            <a:off x="0" y="667512"/>
            <a:ext cx="12191695" cy="6190488"/>
          </a:xfrm>
          <a:prstGeom prst="rect">
            <a:avLst/>
          </a:prstGeom>
          <a:solidFill>
            <a:srgbClr val="F2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 y="768096"/>
            <a:ext cx="7955279" cy="347472"/>
          </a:xfrm>
          <a:prstGeom prst="rect">
            <a:avLst/>
          </a:prstGeom>
          <a:noFill/>
        </p:spPr>
        <p:txBody>
          <a:bodyPr wrap="square" lIns="0" rIns="0" tIns="0" bIns="0">
            <a:spAutoFit/>
          </a:bodyPr>
          <a:lstStyle/>
          <a:p>
            <a:pPr>
              <a:spcAft>
                <a:spcPts val="500"/>
              </a:spcAft>
              <a:defRPr sz="1800" b="1">
                <a:solidFill>
                  <a:srgbClr val="182329"/>
                </a:solidFill>
                <a:latin typeface="Segoe UI"/>
              </a:defRPr>
            </a:pPr>
            <a:r>
              <a:t>REPRISE / Connecting Ridge</a:t>
            </a:r>
          </a:p>
        </p:txBody>
      </p:sp>
      <p:sp>
        <p:nvSpPr>
          <p:cNvPr id="14" name="TextBox 13"/>
          <p:cNvSpPr txBox="1"/>
          <p:nvPr/>
        </p:nvSpPr>
        <p:spPr>
          <a:xfrm>
            <a:off x="228600" y="1188720"/>
            <a:ext cx="7955279" cy="338328"/>
          </a:xfrm>
          <a:prstGeom prst="rect">
            <a:avLst/>
          </a:prstGeom>
          <a:noFill/>
        </p:spPr>
        <p:txBody>
          <a:bodyPr wrap="square" lIns="0" rIns="0" tIns="0" bIns="0">
            <a:spAutoFit/>
          </a:bodyPr>
          <a:lstStyle/>
          <a:p>
            <a:pPr>
              <a:spcAft>
                <a:spcPts val="500"/>
              </a:spcAft>
              <a:defRPr sz="1000" b="0">
                <a:solidFill>
                  <a:srgbClr val="182329"/>
                </a:solidFill>
                <a:latin typeface="Segoe UI"/>
              </a:defRPr>
            </a:pPr>
            <a:r>
              <a:t>Un atelier lunaire où humains et robots fabriquent, réparent et réemploient des réflecteurs solaires.</a:t>
            </a:r>
          </a:p>
        </p:txBody>
      </p:sp>
      <p:sp>
        <p:nvSpPr>
          <p:cNvPr id="15" name="TextBox 14"/>
          <p:cNvSpPr txBox="1"/>
          <p:nvPr/>
        </p:nvSpPr>
        <p:spPr>
          <a:xfrm>
            <a:off x="8549640" y="822960"/>
            <a:ext cx="3383280" cy="274320"/>
          </a:xfrm>
          <a:prstGeom prst="rect">
            <a:avLst/>
          </a:prstGeom>
          <a:noFill/>
        </p:spPr>
        <p:txBody>
          <a:bodyPr wrap="square" lIns="0" rIns="0" tIns="0" bIns="0">
            <a:spAutoFit/>
          </a:bodyPr>
          <a:lstStyle/>
          <a:p>
            <a:pPr>
              <a:spcAft>
                <a:spcPts val="500"/>
              </a:spcAft>
              <a:defRPr sz="1400" b="1">
                <a:solidFill>
                  <a:srgbClr val="995D26"/>
                </a:solidFill>
                <a:latin typeface="Segoe UI"/>
              </a:defRPr>
            </a:pPr>
            <a:r>
              <a:t>MARC DONOVICI</a:t>
            </a:r>
          </a:p>
        </p:txBody>
      </p:sp>
      <p:sp>
        <p:nvSpPr>
          <p:cNvPr id="16" name="TextBox 15"/>
          <p:cNvSpPr txBox="1"/>
          <p:nvPr/>
        </p:nvSpPr>
        <p:spPr>
          <a:xfrm>
            <a:off x="8549640" y="1207008"/>
            <a:ext cx="3383280" cy="228600"/>
          </a:xfrm>
          <a:prstGeom prst="rect">
            <a:avLst/>
          </a:prstGeom>
          <a:noFill/>
        </p:spPr>
        <p:txBody>
          <a:bodyPr wrap="square" lIns="0" rIns="0" tIns="0" bIns="0">
            <a:spAutoFit/>
          </a:bodyPr>
          <a:lstStyle/>
          <a:p>
            <a:pPr>
              <a:spcAft>
                <a:spcPts val="500"/>
              </a:spcAft>
              <a:defRPr sz="1000" b="0">
                <a:solidFill>
                  <a:srgbClr val="182329"/>
                </a:solidFill>
                <a:latin typeface="Segoe UI"/>
              </a:defRPr>
            </a:pPr>
            <a:r>
              <a:t>French nationality · individual entry</a:t>
            </a:r>
          </a:p>
        </p:txBody>
      </p:sp>
      <p:sp>
        <p:nvSpPr>
          <p:cNvPr id="17" name="TextBox 16"/>
          <p:cNvSpPr txBox="1"/>
          <p:nvPr/>
        </p:nvSpPr>
        <p:spPr>
          <a:xfrm>
            <a:off x="310896" y="1865376"/>
            <a:ext cx="11430000" cy="402336"/>
          </a:xfrm>
          <a:prstGeom prst="rect">
            <a:avLst/>
          </a:prstGeom>
          <a:noFill/>
        </p:spPr>
        <p:txBody>
          <a:bodyPr wrap="square" lIns="0" rIns="0" tIns="0" bIns="0">
            <a:spAutoFit/>
          </a:bodyPr>
          <a:lstStyle/>
          <a:p>
            <a:pPr>
              <a:spcAft>
                <a:spcPts val="500"/>
              </a:spcAft>
              <a:defRPr sz="2400" b="1">
                <a:solidFill>
                  <a:srgbClr val="182329"/>
                </a:solidFill>
                <a:latin typeface="Segoe UI"/>
              </a:defRPr>
            </a:pPr>
            <a:r>
              <a:t>MAKE, REPAIR AND INHABIT THE MOON</a:t>
            </a:r>
          </a:p>
        </p:txBody>
      </p:sp>
      <p:sp>
        <p:nvSpPr>
          <p:cNvPr id="18" name="TextBox 17"/>
          <p:cNvSpPr txBox="1"/>
          <p:nvPr/>
        </p:nvSpPr>
        <p:spPr>
          <a:xfrm>
            <a:off x="310896" y="2459736"/>
            <a:ext cx="3675887" cy="274320"/>
          </a:xfrm>
          <a:prstGeom prst="rect">
            <a:avLst/>
          </a:prstGeom>
          <a:noFill/>
        </p:spPr>
        <p:txBody>
          <a:bodyPr wrap="square" lIns="0" rIns="0" tIns="0" bIns="0">
            <a:spAutoFit/>
          </a:bodyPr>
          <a:lstStyle/>
          <a:p>
            <a:pPr>
              <a:spcAft>
                <a:spcPts val="500"/>
              </a:spcAft>
              <a:defRPr sz="1200" b="1">
                <a:solidFill>
                  <a:srgbClr val="995D26"/>
                </a:solidFill>
                <a:latin typeface="Segoe UI"/>
              </a:defRPr>
            </a:pPr>
            <a:r>
              <a:t>FRANÇAIS</a:t>
            </a:r>
          </a:p>
        </p:txBody>
      </p:sp>
      <p:sp>
        <p:nvSpPr>
          <p:cNvPr id="19" name="TextBox 18"/>
          <p:cNvSpPr txBox="1"/>
          <p:nvPr/>
        </p:nvSpPr>
        <p:spPr>
          <a:xfrm>
            <a:off x="310896" y="2834640"/>
            <a:ext cx="3703320" cy="2578608"/>
          </a:xfrm>
          <a:prstGeom prst="rect">
            <a:avLst/>
          </a:prstGeom>
          <a:noFill/>
        </p:spPr>
        <p:txBody>
          <a:bodyPr wrap="square" lIns="0" rIns="0" tIns="0" bIns="0">
            <a:spAutoFit/>
          </a:bodyPr>
          <a:lstStyle/>
          <a:p>
            <a:pPr>
              <a:spcAft>
                <a:spcPts val="500"/>
              </a:spcAft>
              <a:defRPr sz="1200" b="0">
                <a:solidFill>
                  <a:srgbClr val="182329"/>
                </a:solidFill>
                <a:latin typeface="Segoe UI"/>
              </a:defRPr>
            </a:pPr>
            <a:r>
              <a:t>REPRISE est un atelier lunaire de fabrication, de réparation et de réemploi de réflecteurs solaires. Les robots métallisent et renouvellent le film dans le vide ; les spécialistes diagnostiquent les machines, en réparent les pièces et valident leur remise en service. Trois cours de production et une voie couverte bordent un atelier protégé par le régolithe. Une table commune, des établis et des espaces au calme font de la maintenance une façon collective d’habiter la Lune. Un démonstrateur terrestre constitue la première étape vers une présence humaine permanente, adossée à une base lunaire.</a:t>
            </a:r>
          </a:p>
        </p:txBody>
      </p:sp>
      <p:sp>
        <p:nvSpPr>
          <p:cNvPr id="20" name="TextBox 19"/>
          <p:cNvSpPr txBox="1"/>
          <p:nvPr/>
        </p:nvSpPr>
        <p:spPr>
          <a:xfrm>
            <a:off x="4315968" y="2459736"/>
            <a:ext cx="3675887" cy="274320"/>
          </a:xfrm>
          <a:prstGeom prst="rect">
            <a:avLst/>
          </a:prstGeom>
          <a:noFill/>
        </p:spPr>
        <p:txBody>
          <a:bodyPr wrap="square" lIns="0" rIns="0" tIns="0" bIns="0">
            <a:spAutoFit/>
          </a:bodyPr>
          <a:lstStyle/>
          <a:p>
            <a:pPr>
              <a:spcAft>
                <a:spcPts val="500"/>
              </a:spcAft>
              <a:defRPr sz="1200" b="1">
                <a:solidFill>
                  <a:srgbClr val="995D26"/>
                </a:solidFill>
                <a:latin typeface="Segoe UI"/>
              </a:defRPr>
            </a:pPr>
            <a:r>
              <a:t>ENGLISH</a:t>
            </a:r>
          </a:p>
        </p:txBody>
      </p:sp>
      <p:sp>
        <p:nvSpPr>
          <p:cNvPr id="21" name="TextBox 20"/>
          <p:cNvSpPr txBox="1"/>
          <p:nvPr/>
        </p:nvSpPr>
        <p:spPr>
          <a:xfrm>
            <a:off x="4315968" y="2834640"/>
            <a:ext cx="3703320" cy="2578608"/>
          </a:xfrm>
          <a:prstGeom prst="rect">
            <a:avLst/>
          </a:prstGeom>
          <a:noFill/>
        </p:spPr>
        <p:txBody>
          <a:bodyPr wrap="square" lIns="0" rIns="0" tIns="0" bIns="0">
            <a:spAutoFit/>
          </a:bodyPr>
          <a:lstStyle/>
          <a:p>
            <a:pPr>
              <a:spcAft>
                <a:spcPts val="500"/>
              </a:spcAft>
              <a:defRPr sz="1200" b="0">
                <a:solidFill>
                  <a:srgbClr val="182329"/>
                </a:solidFill>
                <a:latin typeface="Segoe UI"/>
              </a:defRPr>
            </a:pPr>
            <a:r>
              <a:t>REPRISE is a lunar workshop for making, repairing and reusing solar reflectors. Robots coat and renew film in vacuum; people diagnose machines, repair removable parts and approve their return to service. Three production courts meet a covered transfer street beside a regolith-shielded workplace. A shared table, repair benches and quiet rooms make maintenance a collective way of inhabiting the Moon. An Earth demonstrator begins the path towards a permanent human presence supported by a lunar settlement.</a:t>
            </a:r>
          </a:p>
        </p:txBody>
      </p:sp>
      <p:pic>
        <p:nvPicPr>
          <p:cNvPr id="22" name="Picture 21" descr="image.jpg"/>
          <p:cNvPicPr>
            <a:picLocks noChangeAspect="1"/>
          </p:cNvPicPr>
          <p:nvPr/>
        </p:nvPicPr>
        <p:blipFill>
          <a:blip r:embed="rId4"/>
          <a:stretch>
            <a:fillRect/>
          </a:stretch>
        </p:blipFill>
        <p:spPr>
          <a:xfrm>
            <a:off x="8302752" y="2459736"/>
            <a:ext cx="3575304" cy="2011680"/>
          </a:xfrm>
          <a:prstGeom prst="rect">
            <a:avLst/>
          </a:prstGeom>
        </p:spPr>
      </p:pic>
      <p:sp>
        <p:nvSpPr>
          <p:cNvPr id="23" name="Rectangle 22"/>
          <p:cNvSpPr/>
          <p:nvPr/>
        </p:nvSpPr>
        <p:spPr>
          <a:xfrm>
            <a:off x="8302752" y="4206240"/>
            <a:ext cx="3575304" cy="265176"/>
          </a:xfrm>
          <a:prstGeom prst="rect">
            <a:avLst/>
          </a:prstGeom>
          <a:solidFill>
            <a:srgbClr val="101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0" y="4242816"/>
            <a:ext cx="3374136" cy="210312"/>
          </a:xfrm>
          <a:prstGeom prst="rect">
            <a:avLst/>
          </a:prstGeom>
          <a:noFill/>
        </p:spPr>
        <p:txBody>
          <a:bodyPr wrap="square" lIns="0" rIns="0" tIns="0" bIns="0">
            <a:spAutoFit/>
          </a:bodyPr>
          <a:lstStyle/>
          <a:p>
            <a:pPr>
              <a:spcAft>
                <a:spcPts val="500"/>
              </a:spcAft>
              <a:defRPr sz="1000" b="1">
                <a:solidFill>
                  <a:srgbClr val="FFFFFF"/>
                </a:solidFill>
                <a:latin typeface="Segoe UI"/>
              </a:defRPr>
            </a:pPr>
            <a:r>
              <a:t>OPTICAL INSPECTION / EARTH LAB</a:t>
            </a:r>
          </a:p>
        </p:txBody>
      </p:sp>
      <p:pic>
        <p:nvPicPr>
          <p:cNvPr id="25" name="Picture 24" descr="image.jpg"/>
          <p:cNvPicPr>
            <a:picLocks noChangeAspect="1"/>
          </p:cNvPicPr>
          <p:nvPr/>
        </p:nvPicPr>
        <p:blipFill>
          <a:blip r:embed="rId5"/>
          <a:stretch>
            <a:fillRect/>
          </a:stretch>
        </p:blipFill>
        <p:spPr>
          <a:xfrm>
            <a:off x="8302752" y="4645152"/>
            <a:ext cx="3575304" cy="566928"/>
          </a:xfrm>
          <a:prstGeom prst="rect">
            <a:avLst/>
          </a:prstGeom>
        </p:spPr>
      </p:pic>
      <p:sp>
        <p:nvSpPr>
          <p:cNvPr id="26" name="TextBox 25"/>
          <p:cNvSpPr txBox="1"/>
          <p:nvPr/>
        </p:nvSpPr>
        <p:spPr>
          <a:xfrm>
            <a:off x="8302752" y="5266944"/>
            <a:ext cx="3575304" cy="173736"/>
          </a:xfrm>
          <a:prstGeom prst="rect">
            <a:avLst/>
          </a:prstGeom>
          <a:noFill/>
        </p:spPr>
        <p:txBody>
          <a:bodyPr wrap="square" lIns="0" rIns="0" tIns="0" bIns="0">
            <a:spAutoFit/>
          </a:bodyPr>
          <a:lstStyle/>
          <a:p>
            <a:pPr>
              <a:spcAft>
                <a:spcPts val="500"/>
              </a:spcAft>
              <a:defRPr sz="800" b="1">
                <a:solidFill>
                  <a:srgbClr val="2B5E63"/>
                </a:solidFill>
                <a:latin typeface="Segoe UI"/>
              </a:defRPr>
            </a:pPr>
            <a:r>
              <a:t>STUDY / WORKPLACE: REPAIR, REVIEW AND REST</a:t>
            </a:r>
          </a:p>
        </p:txBody>
      </p:sp>
      <p:sp>
        <p:nvSpPr>
          <p:cNvPr id="27" name="Rectangle 26"/>
          <p:cNvSpPr/>
          <p:nvPr/>
        </p:nvSpPr>
        <p:spPr>
          <a:xfrm>
            <a:off x="310896" y="5486400"/>
            <a:ext cx="3703320" cy="941832"/>
          </a:xfrm>
          <a:prstGeom prst="rect">
            <a:avLst/>
          </a:prstGeom>
          <a:solidFill>
            <a:srgbClr val="DCE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5605272"/>
            <a:ext cx="3429000" cy="246888"/>
          </a:xfrm>
          <a:prstGeom prst="rect">
            <a:avLst/>
          </a:prstGeom>
          <a:noFill/>
        </p:spPr>
        <p:txBody>
          <a:bodyPr wrap="square" lIns="0" rIns="0" tIns="0" bIns="0">
            <a:spAutoFit/>
          </a:bodyPr>
          <a:lstStyle/>
          <a:p>
            <a:pPr>
              <a:spcAft>
                <a:spcPts val="500"/>
              </a:spcAft>
              <a:defRPr sz="1400" b="1">
                <a:solidFill>
                  <a:srgbClr val="2B5E63"/>
                </a:solidFill>
                <a:latin typeface="Segoe UI"/>
              </a:defRPr>
            </a:pPr>
            <a:r>
              <a:t>01 / RENEW IN VACUUM</a:t>
            </a:r>
          </a:p>
        </p:txBody>
      </p:sp>
      <p:sp>
        <p:nvSpPr>
          <p:cNvPr id="29" name="TextBox 28"/>
          <p:cNvSpPr txBox="1"/>
          <p:nvPr/>
        </p:nvSpPr>
        <p:spPr>
          <a:xfrm>
            <a:off x="438912" y="5971032"/>
            <a:ext cx="3429000" cy="292608"/>
          </a:xfrm>
          <a:prstGeom prst="rect">
            <a:avLst/>
          </a:prstGeom>
          <a:noFill/>
        </p:spPr>
        <p:txBody>
          <a:bodyPr wrap="square" lIns="0" rIns="0" tIns="0" bIns="0">
            <a:spAutoFit/>
          </a:bodyPr>
          <a:lstStyle/>
          <a:p>
            <a:pPr>
              <a:spcAft>
                <a:spcPts val="500"/>
              </a:spcAft>
              <a:defRPr sz="1600" b="0">
                <a:solidFill>
                  <a:srgbClr val="182329"/>
                </a:solidFill>
                <a:latin typeface="Segoe UI"/>
              </a:defRPr>
            </a:pPr>
            <a:r>
              <a:t>Coat surfaces near their use</a:t>
            </a:r>
          </a:p>
        </p:txBody>
      </p:sp>
      <p:sp>
        <p:nvSpPr>
          <p:cNvPr id="30" name="Rectangle 29"/>
          <p:cNvSpPr/>
          <p:nvPr/>
        </p:nvSpPr>
        <p:spPr>
          <a:xfrm>
            <a:off x="4242816" y="5486400"/>
            <a:ext cx="3703320" cy="941832"/>
          </a:xfrm>
          <a:prstGeom prst="rect">
            <a:avLst/>
          </a:prstGeom>
          <a:solidFill>
            <a:srgbClr val="DCE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0831" y="5605272"/>
            <a:ext cx="3429000" cy="246888"/>
          </a:xfrm>
          <a:prstGeom prst="rect">
            <a:avLst/>
          </a:prstGeom>
          <a:noFill/>
        </p:spPr>
        <p:txBody>
          <a:bodyPr wrap="square" lIns="0" rIns="0" tIns="0" bIns="0">
            <a:spAutoFit/>
          </a:bodyPr>
          <a:lstStyle/>
          <a:p>
            <a:pPr>
              <a:spcAft>
                <a:spcPts val="500"/>
              </a:spcAft>
              <a:defRPr sz="1400" b="1">
                <a:solidFill>
                  <a:srgbClr val="2B5E63"/>
                </a:solidFill>
                <a:latin typeface="Segoe UI"/>
              </a:defRPr>
            </a:pPr>
            <a:r>
              <a:t>02 / REPAIR BY HAND</a:t>
            </a:r>
          </a:p>
        </p:txBody>
      </p:sp>
      <p:sp>
        <p:nvSpPr>
          <p:cNvPr id="32" name="TextBox 31"/>
          <p:cNvSpPr txBox="1"/>
          <p:nvPr/>
        </p:nvSpPr>
        <p:spPr>
          <a:xfrm>
            <a:off x="4370831" y="5971032"/>
            <a:ext cx="3429000" cy="292608"/>
          </a:xfrm>
          <a:prstGeom prst="rect">
            <a:avLst/>
          </a:prstGeom>
          <a:noFill/>
        </p:spPr>
        <p:txBody>
          <a:bodyPr wrap="square" lIns="0" rIns="0" tIns="0" bIns="0">
            <a:spAutoFit/>
          </a:bodyPr>
          <a:lstStyle/>
          <a:p>
            <a:pPr>
              <a:spcAft>
                <a:spcPts val="500"/>
              </a:spcAft>
              <a:defRPr sz="1600" b="0">
                <a:solidFill>
                  <a:srgbClr val="182329"/>
                </a:solidFill>
                <a:latin typeface="Segoe UI"/>
              </a:defRPr>
            </a:pPr>
            <a:r>
              <a:t>Diagnose, rebuild and approve</a:t>
            </a:r>
          </a:p>
        </p:txBody>
      </p:sp>
      <p:sp>
        <p:nvSpPr>
          <p:cNvPr id="33" name="Rectangle 32"/>
          <p:cNvSpPr/>
          <p:nvPr/>
        </p:nvSpPr>
        <p:spPr>
          <a:xfrm>
            <a:off x="8174736" y="5486400"/>
            <a:ext cx="3703320" cy="941832"/>
          </a:xfrm>
          <a:prstGeom prst="rect">
            <a:avLst/>
          </a:prstGeom>
          <a:solidFill>
            <a:srgbClr val="DCE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2752" y="5605272"/>
            <a:ext cx="3429000" cy="246888"/>
          </a:xfrm>
          <a:prstGeom prst="rect">
            <a:avLst/>
          </a:prstGeom>
          <a:noFill/>
        </p:spPr>
        <p:txBody>
          <a:bodyPr wrap="square" lIns="0" rIns="0" tIns="0" bIns="0">
            <a:spAutoFit/>
          </a:bodyPr>
          <a:lstStyle/>
          <a:p>
            <a:pPr>
              <a:spcAft>
                <a:spcPts val="500"/>
              </a:spcAft>
              <a:defRPr sz="1400" b="1">
                <a:solidFill>
                  <a:srgbClr val="2B5E63"/>
                </a:solidFill>
                <a:latin typeface="Segoe UI"/>
              </a:defRPr>
            </a:pPr>
            <a:r>
              <a:t>03 / BUILD A COMMUNITY</a:t>
            </a:r>
          </a:p>
        </p:txBody>
      </p:sp>
      <p:sp>
        <p:nvSpPr>
          <p:cNvPr id="35" name="TextBox 34"/>
          <p:cNvSpPr txBox="1"/>
          <p:nvPr/>
        </p:nvSpPr>
        <p:spPr>
          <a:xfrm>
            <a:off x="8302752" y="5971032"/>
            <a:ext cx="3429000" cy="292608"/>
          </a:xfrm>
          <a:prstGeom prst="rect">
            <a:avLst/>
          </a:prstGeom>
          <a:noFill/>
        </p:spPr>
        <p:txBody>
          <a:bodyPr wrap="square" lIns="0" rIns="0" tIns="0" bIns="0">
            <a:spAutoFit/>
          </a:bodyPr>
          <a:lstStyle/>
          <a:p>
            <a:pPr>
              <a:spcAft>
                <a:spcPts val="500"/>
              </a:spcAft>
              <a:defRPr sz="1600" b="0">
                <a:solidFill>
                  <a:srgbClr val="182329"/>
                </a:solidFill>
                <a:latin typeface="Segoe UI"/>
              </a:defRPr>
            </a:pPr>
            <a:r>
              <a:t>Share tools, space and knowledge</a:t>
            </a:r>
          </a:p>
        </p:txBody>
      </p:sp>
      <p:sp>
        <p:nvSpPr>
          <p:cNvPr id="36" name="TextBox 35"/>
          <p:cNvSpPr txBox="1"/>
          <p:nvPr/>
        </p:nvSpPr>
        <p:spPr>
          <a:xfrm>
            <a:off x="320040" y="6528816"/>
            <a:ext cx="8138160" cy="210312"/>
          </a:xfrm>
          <a:prstGeom prst="rect">
            <a:avLst/>
          </a:prstGeom>
          <a:noFill/>
        </p:spPr>
        <p:txBody>
          <a:bodyPr wrap="square" lIns="0" rIns="0" tIns="0" bIns="0">
            <a:spAutoFit/>
          </a:bodyPr>
          <a:lstStyle/>
          <a:p>
            <a:pPr>
              <a:spcAft>
                <a:spcPts val="500"/>
              </a:spcAft>
              <a:defRPr sz="1000" b="0">
                <a:solidFill>
                  <a:srgbClr val="182329"/>
                </a:solidFill>
                <a:latin typeface="Segoe UI"/>
              </a:defRPr>
            </a:pPr>
            <a:r>
              <a:t>Earth Lab first. Crew module sized for 2 visitors; permanent residence develops with settlement life support and shared services.</a:t>
            </a:r>
          </a:p>
        </p:txBody>
      </p:sp>
      <p:sp>
        <p:nvSpPr>
          <p:cNvPr id="37" name="TextBox 36"/>
          <p:cNvSpPr txBox="1"/>
          <p:nvPr/>
        </p:nvSpPr>
        <p:spPr>
          <a:xfrm>
            <a:off x="8549640" y="6528816"/>
            <a:ext cx="3337560" cy="210312"/>
          </a:xfrm>
          <a:prstGeom prst="rect">
            <a:avLst/>
          </a:prstGeom>
          <a:noFill/>
        </p:spPr>
        <p:txBody>
          <a:bodyPr wrap="square" lIns="0" rIns="0" tIns="0" bIns="0">
            <a:spAutoFit/>
          </a:bodyPr>
          <a:lstStyle/>
          <a:p>
            <a:pPr>
              <a:spcAft>
                <a:spcPts val="500"/>
              </a:spcAft>
              <a:defRPr sz="1000" b="1">
                <a:solidFill>
                  <a:srgbClr val="995D26"/>
                </a:solidFill>
                <a:latin typeface="Segoe UI"/>
              </a:defRPr>
            </a:pPr>
            <a:r>
              <a:t>Film, books, A0 / marc-dvci.github.io/reprise</a:t>
            </a:r>
          </a:p>
        </p:txBody>
      </p:sp>
    </p:spTree>
    <p:extLst>
      <p:ext uri="{BB962C8B-B14F-4D97-AF65-F5344CB8AC3E}">
        <p14:creationId xmlns:p14="http://schemas.microsoft.com/office/powerpoint/2010/main" val="106934009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TotalTime>
  <Words>1051</Words>
  <Application>Microsoft Office PowerPoint</Application>
  <PresentationFormat>Grand écran</PresentationFormat>
  <Paragraphs>167</Paragraphs>
  <Slides>15</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15</vt:i4>
      </vt:variant>
    </vt:vector>
  </HeadingPairs>
  <TitlesOfParts>
    <vt:vector size="21" baseType="lpstr">
      <vt:lpstr>Aptos</vt:lpstr>
      <vt:lpstr>Arial</vt:lpstr>
      <vt:lpstr>Calibri</vt:lpstr>
      <vt:lpstr>Century Gothic</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Sophie ROUGERIE</dc:creator>
  <cp:lastModifiedBy>Sophie ROUGERIE</cp:lastModifiedBy>
  <cp:revision>8</cp:revision>
  <dcterms:created xsi:type="dcterms:W3CDTF">2024-02-27T16:02:23Z</dcterms:created>
  <dcterms:modified xsi:type="dcterms:W3CDTF">2026-02-17T13:50:26Z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5c20be7-c3a5-46e3-9158-fa8a02ce2395_Enabled">
    <vt:lpwstr>true</vt:lpwstr>
  </property>
  <property fmtid="{D5CDD505-2E9C-101B-9397-08002B2CF9AE}" pid="3" name="MSIP_Label_d5c20be7-c3a5-46e3-9158-fa8a02ce2395_SetDate">
    <vt:lpwstr>2025-02-17T11:24:02Z</vt:lpwstr>
  </property>
  <property fmtid="{D5CDD505-2E9C-101B-9397-08002B2CF9AE}" pid="4" name="MSIP_Label_d5c20be7-c3a5-46e3-9158-fa8a02ce2395_Method">
    <vt:lpwstr>Standard</vt:lpwstr>
  </property>
  <property fmtid="{D5CDD505-2E9C-101B-9397-08002B2CF9AE}" pid="5" name="MSIP_Label_d5c20be7-c3a5-46e3-9158-fa8a02ce2395_Name">
    <vt:lpwstr>defa4170-0d19-0005-0004-bc88714345d2</vt:lpwstr>
  </property>
  <property fmtid="{D5CDD505-2E9C-101B-9397-08002B2CF9AE}" pid="6" name="MSIP_Label_d5c20be7-c3a5-46e3-9158-fa8a02ce2395_SiteId">
    <vt:lpwstr>8c6f9078-037e-4261-a583-52a944e55f7f</vt:lpwstr>
  </property>
  <property fmtid="{D5CDD505-2E9C-101B-9397-08002B2CF9AE}" pid="7" name="MSIP_Label_d5c20be7-c3a5-46e3-9158-fa8a02ce2395_ActionId">
    <vt:lpwstr>9e2d129c-cfa7-42ba-9215-bae896fbdab7</vt:lpwstr>
  </property>
  <property fmtid="{D5CDD505-2E9C-101B-9397-08002B2CF9AE}" pid="8" name="MSIP_Label_d5c20be7-c3a5-46e3-9158-fa8a02ce2395_ContentBits">
    <vt:lpwstr>0</vt:lpwstr>
  </property>
  <property fmtid="{D5CDD505-2E9C-101B-9397-08002B2CF9AE}" pid="9" name="MSIP_Label_d5c20be7-c3a5-46e3-9158-fa8a02ce2395_Tag">
    <vt:lpwstr>10, 3, 0, 1</vt:lpwstr>
  </property>
</Properties>
</file>